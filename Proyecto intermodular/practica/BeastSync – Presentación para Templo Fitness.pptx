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problema: hoy el socio usa una app para entrenar y otra para comer.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40% es el objetivo marcado en el proyecto, no un dato medido.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objetivos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Caracterización de la empresa tipo: recepción, entrenadores y nutrición externalizada.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Ninguna de las apps de referencia conecta entrenamiento y nutrición.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Conectamos el desgaste real con la recarga de nutrientes.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diseño: registrar en menos de 3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panel es exclusivo para Templo Fitness.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logo y lo que representa.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beneficios para el centro.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precios aún no están definidos en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Cadena de valor del plan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de trabajo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 testing con 50 socios.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Digital encaja como solución de gestión de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acordando la fase 1 con la gerencia de Templo Fitness.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pic>
        <p:nvPicPr>
          <p:cNvPr id="4" name="Image 1" descr="Logo de BeastSync: oso polar con una B en forma de mancuerna">    </p:cNvPr>
          <p:cNvPicPr>
            <a:picLocks noChangeAspect="1"/>
          </p:cNvPicPr>
          <p:nvPr/>
        </p:nvPicPr>
        <p:blipFill>
          <a:blip r:embed="rId2"/>
          <a:srcRect l="0" r="0" t="-36" b="-36"/>
          <a:stretch/>
        </p:blipFill>
        <p:spPr>
          <a:xfrm>
            <a:off x="7239000" y="1460500"/>
            <a:ext cx="3937000" cy="3505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201433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30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PROPUESTA PARA TEMPLO FITNESS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12800" y="2517180"/>
            <a:ext cx="1088339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BeastSync</a:t>
            </a:r>
            <a:endParaRPr lang="en-US" sz="9000" dirty="0"/>
          </a:p>
        </p:txBody>
      </p:sp>
      <p:sp>
        <p:nvSpPr>
          <p:cNvPr id="7" name="Text 3"/>
          <p:cNvSpPr/>
          <p:nvPr/>
        </p:nvSpPr>
        <p:spPr>
          <a:xfrm>
            <a:off x="812800" y="3914180"/>
            <a:ext cx="6540500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Nutrición y entrenamiento en una sola app, con tu gimnasio en el centro.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12800" y="5986859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Jesús Zambrano Montero · Ivan Granados Cantero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Proyecto Intermodular de Aplicaciones Web · Presentación del producto (RA1)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RETO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herramientas para un solo objetivo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12800" y="1765201"/>
            <a:ext cx="5982411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centros deportivos se enfrentan al reto de la fidelización digital. El socio registra su fuerza en una app y cuenta sus calorías en otra muy distinta.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2775942"/>
            <a:ext cx="598241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unifica ambos mundos en una plataforma exclusiva de Templo Fitness, bajo un plan de suscripciones.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73366" y="1765201"/>
            <a:ext cx="4605834" cy="1746250"/>
          </a:xfrm>
          <a:prstGeom prst="roundRect">
            <a:avLst>
              <a:gd name="adj" fmla="val 8727"/>
            </a:avLst>
          </a:prstGeom>
          <a:solidFill>
            <a:srgbClr val="FF5F1F"/>
          </a:solidFill>
          <a:ln/>
        </p:spPr>
      </p:sp>
      <p:sp>
        <p:nvSpPr>
          <p:cNvPr id="9" name="Text 6"/>
          <p:cNvSpPr/>
          <p:nvPr/>
        </p:nvSpPr>
        <p:spPr>
          <a:xfrm>
            <a:off x="7001966" y="1993801"/>
            <a:ext cx="427309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0D0D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+40%</a:t>
            </a:r>
            <a:endParaRPr lang="en-US" sz="7500" dirty="0"/>
          </a:p>
        </p:txBody>
      </p:sp>
      <p:sp>
        <p:nvSpPr>
          <p:cNvPr id="10" name="Text 7"/>
          <p:cNvSpPr/>
          <p:nvPr/>
        </p:nvSpPr>
        <p:spPr>
          <a:xfrm>
            <a:off x="7001966" y="3035201"/>
            <a:ext cx="427309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D0D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adherencia a los planes: objetivo del proyecto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15975" y="3768626"/>
            <a:ext cx="3414117" cy="1578372"/>
          </a:xfrm>
          <a:prstGeom prst="roundRect">
            <a:avLst>
              <a:gd name="adj" fmla="val 9454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2" name="Image 1" descr="icon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4000401"/>
            <a:ext cx="279400" cy="279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28750" y="4010521"/>
            <a:ext cx="137824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Fidelización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047750" y="4368701"/>
            <a:ext cx="303908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valor añadido digital que el socio usa cada día dentro y fuera del gimnasio.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88842" y="3768626"/>
            <a:ext cx="3414216" cy="1578372"/>
          </a:xfrm>
          <a:prstGeom prst="roundRect">
            <a:avLst>
              <a:gd name="adj" fmla="val 9454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6" name="Image 2" descr="icon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20617" y="4000401"/>
            <a:ext cx="279400" cy="279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01617" y="4010521"/>
            <a:ext cx="147915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Seguimiento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620617" y="4368701"/>
            <a:ext cx="303918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rutinas en papel y un registro digital del progreso de cada socio.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961809" y="3768626"/>
            <a:ext cx="3414216" cy="1578372"/>
          </a:xfrm>
          <a:prstGeom prst="roundRect">
            <a:avLst>
              <a:gd name="adj" fmla="val 9454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20" name="Image 3" descr="icono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93584" y="4000401"/>
            <a:ext cx="279400" cy="279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74584" y="4010521"/>
            <a:ext cx="198851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Menos abandono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193584" y="4368701"/>
            <a:ext cx="303918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único registro de macros y volumen evita que el socio deje la app.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12800" y="6238280"/>
            <a:ext cx="965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768376"/>
            <a:ext cx="3414117" cy="2205732"/>
          </a:xfrm>
          <a:prstGeom prst="roundRect">
            <a:avLst>
              <a:gd name="adj" fmla="val 6765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7750" y="2000151"/>
            <a:ext cx="303908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047750" y="2647851"/>
            <a:ext cx="30390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Más adherencia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47750" y="2995811"/>
            <a:ext cx="303908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Aumentar en un 40% la adherencia de los usuarios a sus planes al unificar nutrición y entrenamiento.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8842" y="1768376"/>
            <a:ext cx="3414216" cy="2205732"/>
          </a:xfrm>
          <a:prstGeom prst="roundRect">
            <a:avLst>
              <a:gd name="adj" fmla="val 6765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20617" y="2000151"/>
            <a:ext cx="303918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620617" y="2647851"/>
            <a:ext cx="303918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Socios digitalizados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20617" y="2995811"/>
            <a:ext cx="303918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Digitalizar el seguimiento de los socios de Templo Fitness y reducir el uso de rutinas en papel.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61809" y="1768376"/>
            <a:ext cx="3414216" cy="2205732"/>
          </a:xfrm>
          <a:prstGeom prst="roundRect">
            <a:avLst>
              <a:gd name="adj" fmla="val 6765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93584" y="2000151"/>
            <a:ext cx="303918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8193584" y="2647851"/>
            <a:ext cx="303918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centralizados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193584" y="2995811"/>
            <a:ext cx="303918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Reunir macros y volumen de entrenamiento en un solo registro para evitar el abandono tecnológico.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965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CLIENTE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Templo Fitness: necesidades del centro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768376"/>
            <a:ext cx="3414117" cy="1578372"/>
          </a:xfrm>
          <a:prstGeom prst="roundRect">
            <a:avLst>
              <a:gd name="adj" fmla="val 9454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7" name="Image 1" descr="icon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2000151"/>
            <a:ext cx="279400" cy="279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8750" y="2010271"/>
            <a:ext cx="246300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Recepción y atención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47750" y="2368451"/>
            <a:ext cx="30390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Primer punto de contacto con el socio y de gestión de altas y dudas.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388842" y="1768376"/>
            <a:ext cx="3414216" cy="1578372"/>
          </a:xfrm>
          <a:prstGeom prst="roundRect">
            <a:avLst>
              <a:gd name="adj" fmla="val 9454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1" name="Image 2" descr="icon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20617" y="2000151"/>
            <a:ext cx="279400" cy="279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01617" y="2010271"/>
            <a:ext cx="155842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Entrenadores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620617" y="2368451"/>
            <a:ext cx="303918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Equipo de sala y personales que necesita ver la constancia de sus socios.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961809" y="1768376"/>
            <a:ext cx="3414216" cy="1578372"/>
          </a:xfrm>
          <a:prstGeom prst="roundRect">
            <a:avLst>
              <a:gd name="adj" fmla="val 9454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5" name="Image 3" descr="icono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93584" y="2000151"/>
            <a:ext cx="279400" cy="279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74584" y="2010271"/>
            <a:ext cx="200251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Nutrición externa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8193584" y="2368451"/>
            <a:ext cx="303918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Servicios de nutrición externalizados, sin integración con el entrenamiento.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12800" y="3603923"/>
            <a:ext cx="10566400" cy="1168400"/>
          </a:xfrm>
          <a:prstGeom prst="roundRect">
            <a:avLst>
              <a:gd name="adj" fmla="val 13043"/>
            </a:avLst>
          </a:prstGeom>
          <a:solidFill>
            <a:srgbClr val="FF5F1F"/>
          </a:solidFill>
          <a:ln/>
        </p:spPr>
      </p:sp>
      <p:sp>
        <p:nvSpPr>
          <p:cNvPr id="19" name="Text 13"/>
          <p:cNvSpPr/>
          <p:nvPr/>
        </p:nvSpPr>
        <p:spPr>
          <a:xfrm>
            <a:off x="1041400" y="3832523"/>
            <a:ext cx="140702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D0D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2800" dirty="0"/>
          </a:p>
        </p:txBody>
      </p:sp>
      <p:sp>
        <p:nvSpPr>
          <p:cNvPr id="20" name="Text 14"/>
          <p:cNvSpPr/>
          <p:nvPr/>
        </p:nvSpPr>
        <p:spPr>
          <a:xfrm>
            <a:off x="2600821" y="3903663"/>
            <a:ext cx="880627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D0D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Ofrecer herramientas que compitan con las grandes franquicias, sin asumir costes de desarrollo inasumibles.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12800" y="6238280"/>
            <a:ext cx="965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COMPETENCIA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app cubre solo la mitad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768376"/>
            <a:ext cx="3418384" cy="2065933"/>
          </a:xfrm>
          <a:prstGeom prst="roundRect">
            <a:avLst>
              <a:gd name="adj" fmla="val 7223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7" name="Image 1" descr="icono">    </p:cNvPr>
          <p:cNvPicPr>
            <a:picLocks noChangeAspect="1"/>
          </p:cNvPicPr>
          <p:nvPr/>
        </p:nvPicPr>
        <p:blipFill>
          <a:blip r:embed="rId2"/>
          <a:srcRect l="0" r="0" t="-11138" b="-11138"/>
          <a:stretch/>
        </p:blipFill>
        <p:spPr>
          <a:xfrm>
            <a:off x="1047750" y="2119511"/>
            <a:ext cx="228501" cy="279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7851" y="2000151"/>
            <a:ext cx="2703475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Entrenamiento: Hevy, Strong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47750" y="2607171"/>
            <a:ext cx="3043479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Excelentes para registrar levantamientos y con muy buena experiencia de usuario. Carecen de integración nutricional.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393109" y="1768376"/>
            <a:ext cx="3418483" cy="2065933"/>
          </a:xfrm>
          <a:prstGeom prst="roundRect">
            <a:avLst>
              <a:gd name="adj" fmla="val 7223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1" name="Image 2" descr="icono">    </p:cNvPr>
          <p:cNvPicPr>
            <a:picLocks noChangeAspect="1"/>
          </p:cNvPicPr>
          <p:nvPr/>
        </p:nvPicPr>
        <p:blipFill>
          <a:blip r:embed="rId3"/>
          <a:srcRect l="0" r="0" t="-904" b="-904"/>
          <a:stretch/>
        </p:blipFill>
        <p:spPr>
          <a:xfrm>
            <a:off x="4624884" y="2119511"/>
            <a:ext cx="274439" cy="279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00923" y="2000151"/>
            <a:ext cx="2656261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Nutrición: MyFitnessPal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624884" y="2607171"/>
            <a:ext cx="3043581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Grandes bases de datos de alimentos. Tratan la fuerza como un simple descuento calórico, sin entender el estímulo del músculo.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967166" y="1765201"/>
            <a:ext cx="3412034" cy="2072283"/>
          </a:xfrm>
          <a:prstGeom prst="roundRect">
            <a:avLst>
              <a:gd name="adj" fmla="val 7354"/>
            </a:avLst>
          </a:prstGeom>
          <a:solidFill>
            <a:srgbClr val="FF5F1F"/>
          </a:solidFill>
          <a:ln/>
        </p:spPr>
      </p:sp>
      <p:sp>
        <p:nvSpPr>
          <p:cNvPr id="15" name="Text 10"/>
          <p:cNvSpPr/>
          <p:nvPr/>
        </p:nvSpPr>
        <p:spPr>
          <a:xfrm>
            <a:off x="8195766" y="1993801"/>
            <a:ext cx="304347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D0D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BeastSync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195766" y="2341761"/>
            <a:ext cx="3043479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D0D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 las dos mitades: el entrenamiento real del día decide las sugerencias de nutrición.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965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NUESTRA INNOVACIÓN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Bucle Músculo-Macro</a:t>
            </a:r>
            <a:endParaRPr lang="en-US" sz="2800" dirty="0"/>
          </a:p>
        </p:txBody>
      </p:sp>
      <p:pic>
        <p:nvPicPr>
          <p:cNvPr id="6" name="Image 1" descr="Ciclo entrenamiento y nutrició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1765201"/>
            <a:ext cx="5715000" cy="292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3000" y="1954113"/>
            <a:ext cx="5310886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ajusta automáticamente las sugerencias nutricionales según el volumen, la intensidad y el tonelaje registrados ese mismo día.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226175" y="2912963"/>
            <a:ext cx="2780506" cy="1581150"/>
          </a:xfrm>
          <a:prstGeom prst="roundRect">
            <a:avLst>
              <a:gd name="adj" fmla="val 943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9" name="Image 2" descr="Ilustración de una barra con disco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63928" y="3068538"/>
            <a:ext cx="1905000" cy="1270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65431" y="2912963"/>
            <a:ext cx="2210594" cy="1581150"/>
          </a:xfrm>
          <a:prstGeom prst="roundRect">
            <a:avLst>
              <a:gd name="adj" fmla="val 943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1" name="Image 3" descr="Ilustración de una manzana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635728" y="3068538"/>
            <a:ext cx="1270000" cy="1270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2800" y="6238280"/>
            <a:ext cx="965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EXPERIENCIA DE USUARIO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sin fricción</a:t>
            </a:r>
            <a:endParaRPr lang="en-US" sz="2800" dirty="0"/>
          </a:p>
        </p:txBody>
      </p:sp>
      <p:pic>
        <p:nvPicPr>
          <p:cNvPr id="6" name="Image 1" descr="Ilustración de la app BeastSync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1765201"/>
            <a:ext cx="1905000" cy="3302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73400" y="2040830"/>
            <a:ext cx="8305800" cy="1511300"/>
          </a:xfrm>
          <a:prstGeom prst="roundRect">
            <a:avLst>
              <a:gd name="adj" fmla="val 10084"/>
            </a:avLst>
          </a:prstGeom>
          <a:solidFill>
            <a:srgbClr val="FF5F1F"/>
          </a:solidFill>
          <a:ln/>
        </p:spPr>
      </p:sp>
      <p:sp>
        <p:nvSpPr>
          <p:cNvPr id="8" name="Text 4"/>
          <p:cNvSpPr/>
          <p:nvPr/>
        </p:nvSpPr>
        <p:spPr>
          <a:xfrm>
            <a:off x="3302000" y="2269430"/>
            <a:ext cx="808405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0D0D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3 s</a:t>
            </a:r>
            <a:endParaRPr lang="en-US" sz="5500" dirty="0"/>
          </a:p>
        </p:txBody>
      </p:sp>
      <p:sp>
        <p:nvSpPr>
          <p:cNvPr id="9" name="Text 5"/>
          <p:cNvSpPr/>
          <p:nvPr/>
        </p:nvSpPr>
        <p:spPr>
          <a:xfrm>
            <a:off x="3302000" y="3056830"/>
            <a:ext cx="80840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0D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registrar una serie o una comida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076575" y="3707705"/>
            <a:ext cx="8299450" cy="1080691"/>
          </a:xfrm>
          <a:prstGeom prst="roundRect">
            <a:avLst>
              <a:gd name="adj" fmla="val 1380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1" name="Image 2" descr="icon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08350" y="3939480"/>
            <a:ext cx="279400" cy="279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89350" y="3949601"/>
            <a:ext cx="315006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interrumpir el descanso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3308350" y="4307780"/>
            <a:ext cx="807097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Interfaz optimizada para registrar entre series, con pocos toques.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12800" y="6238280"/>
            <a:ext cx="965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 PARA EL GIMNASIO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B2B de Templo Fitness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768376"/>
            <a:ext cx="6800850" cy="1329531"/>
          </a:xfrm>
          <a:prstGeom prst="roundRect">
            <a:avLst>
              <a:gd name="adj" fmla="val 11224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7" name="Image 1" descr="icon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2000151"/>
            <a:ext cx="279400" cy="279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8750" y="2010271"/>
            <a:ext cx="234855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Constancia anónima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47750" y="2368451"/>
            <a:ext cx="6527419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entrenadores monitorizan la constancia de los socios sin ver datos personales.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15975" y="3256657"/>
            <a:ext cx="6800850" cy="1080691"/>
          </a:xfrm>
          <a:prstGeom prst="roundRect">
            <a:avLst>
              <a:gd name="adj" fmla="val 1380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1" name="Image 2" descr="icon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" y="3488432"/>
            <a:ext cx="279400" cy="279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28750" y="3498552"/>
            <a:ext cx="187037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Rutinas oficiales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047750" y="3856732"/>
            <a:ext cx="65274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centro envía sus rutinas a la app de cada socio.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15975" y="4496098"/>
            <a:ext cx="6800850" cy="1080691"/>
          </a:xfrm>
          <a:prstGeom prst="roundRect">
            <a:avLst>
              <a:gd name="adj" fmla="val 1380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5" name="Image 3" descr="icono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7750" y="4727873"/>
            <a:ext cx="279400" cy="279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28750" y="4737993"/>
            <a:ext cx="222315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Retos comunitarios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047750" y="5096173"/>
            <a:ext cx="65274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Retos que crean comunidad y motivan a asistir.</a:t>
            </a:r>
            <a:endParaRPr lang="en-US" sz="1400" dirty="0"/>
          </a:p>
        </p:txBody>
      </p:sp>
      <p:pic>
        <p:nvPicPr>
          <p:cNvPr id="18" name="Image 4" descr="Ilustración de constancia de los socio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823200" y="2613422"/>
            <a:ext cx="3556000" cy="1905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823200" y="4518422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Ilustración de ejemplo, no son datos reales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12800" y="6238280"/>
            <a:ext cx="965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IDENTIDAD VISUAL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marca de fuerza y tecnología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943398"/>
            <a:ext cx="4057650" cy="3397250"/>
          </a:xfrm>
          <a:prstGeom prst="roundRect">
            <a:avLst>
              <a:gd name="adj" fmla="val 4393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7" name="Image 1" descr="Logo de BeastSync">    </p:cNvPr>
          <p:cNvPicPr>
            <a:picLocks noChangeAspect="1"/>
          </p:cNvPicPr>
          <p:nvPr/>
        </p:nvPicPr>
        <p:blipFill>
          <a:blip r:embed="rId2"/>
          <a:srcRect l="-69" r="-69" t="0" b="0"/>
          <a:stretch/>
        </p:blipFill>
        <p:spPr>
          <a:xfrm>
            <a:off x="1193800" y="2175173"/>
            <a:ext cx="3302000" cy="29337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32375" y="1768376"/>
            <a:ext cx="6343650" cy="1060351"/>
          </a:xfrm>
          <a:prstGeom prst="roundRect">
            <a:avLst>
              <a:gd name="adj" fmla="val 14073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264150" y="2000151"/>
            <a:ext cx="605650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Oso polar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264150" y="2348111"/>
            <a:ext cx="605650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Símbolo de potencia y rendimiento, con un aire tecnológico.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32375" y="2987477"/>
            <a:ext cx="6343650" cy="1309191"/>
          </a:xfrm>
          <a:prstGeom prst="roundRect">
            <a:avLst>
              <a:gd name="adj" fmla="val 1139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64150" y="3219252"/>
            <a:ext cx="605650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 de mancuerna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264150" y="3567212"/>
            <a:ext cx="605650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inicial de BeastSync se convierte en una mancuerna: entrenamiento en el corazón de la marca.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32375" y="4455418"/>
            <a:ext cx="6343650" cy="1060351"/>
          </a:xfrm>
          <a:prstGeom prst="roundRect">
            <a:avLst>
              <a:gd name="adj" fmla="val 14073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264150" y="4687193"/>
            <a:ext cx="605650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Estética minimalista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264150" y="5035153"/>
            <a:ext cx="605650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Líneas limpias y pocos elementos para una interfaz clara y rápida.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12800" y="6238280"/>
            <a:ext cx="965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 PARA TEMPLO FITNESS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gana el centro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768376"/>
            <a:ext cx="3414117" cy="2205732"/>
          </a:xfrm>
          <a:prstGeom prst="roundRect">
            <a:avLst>
              <a:gd name="adj" fmla="val 6765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7750" y="2000151"/>
            <a:ext cx="303908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047750" y="2647851"/>
            <a:ext cx="30390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Retención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47750" y="2995811"/>
            <a:ext cx="303908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socios usan una herramienta propia del centro y les cuesta más abandonarlo.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8842" y="1768376"/>
            <a:ext cx="3414216" cy="2205732"/>
          </a:xfrm>
          <a:prstGeom prst="roundRect">
            <a:avLst>
              <a:gd name="adj" fmla="val 6765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20617" y="2000151"/>
            <a:ext cx="303918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620617" y="2647851"/>
            <a:ext cx="303918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Digitalización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20617" y="2995811"/>
            <a:ext cx="303918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Seguimiento digital de los socios en lugar de rutinas en papel.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61809" y="1768376"/>
            <a:ext cx="3414216" cy="2205732"/>
          </a:xfrm>
          <a:prstGeom prst="roundRect">
            <a:avLst>
              <a:gd name="adj" fmla="val 6765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93584" y="2000151"/>
            <a:ext cx="303918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8193584" y="2647851"/>
            <a:ext cx="303918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Competitividad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193584" y="2995811"/>
            <a:ext cx="303918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Tecnología al nivel de las grandes franquicias, sin desarrollo propio.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10512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Planes de suscripción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768376"/>
            <a:ext cx="5207000" cy="2107505"/>
          </a:xfrm>
          <a:prstGeom prst="roundRect">
            <a:avLst>
              <a:gd name="adj" fmla="val 7081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7750" y="2000151"/>
            <a:ext cx="488575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PARTICULARES · B2C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47750" y="2320131"/>
            <a:ext cx="488575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 / Pro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047750" y="2815431"/>
            <a:ext cx="488575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Funciones básicas gratuitas. El ajuste metabólico avanzado, basado en el bucle músculo-macro, es de pago.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8550" y="1765201"/>
            <a:ext cx="5200650" cy="2113855"/>
          </a:xfrm>
          <a:prstGeom prst="roundRect">
            <a:avLst>
              <a:gd name="adj" fmla="val 7210"/>
            </a:avLst>
          </a:prstGeom>
          <a:solidFill>
            <a:srgbClr val="FF5F1F"/>
          </a:solidFill>
          <a:ln/>
        </p:spPr>
      </p:sp>
      <p:sp>
        <p:nvSpPr>
          <p:cNvPr id="11" name="Text 8"/>
          <p:cNvSpPr/>
          <p:nvPr/>
        </p:nvSpPr>
        <p:spPr>
          <a:xfrm>
            <a:off x="6407150" y="1993801"/>
            <a:ext cx="488575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0D0D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GIMNASIOS · B2B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7150" y="2313781"/>
            <a:ext cx="488575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D0D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407150" y="2809081"/>
            <a:ext cx="488575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0D0D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Licencia corporativa que da cuentas Pro a los socios del centro como herramienta de fidelización.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10512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CÓMO FUNCIONA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la licencia a la retención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768376"/>
            <a:ext cx="2219325" cy="1558032"/>
          </a:xfrm>
          <a:prstGeom prst="roundRect">
            <a:avLst>
              <a:gd name="adj" fmla="val 957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7750" y="2000151"/>
            <a:ext cx="180844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Licencia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47750" y="2348111"/>
            <a:ext cx="180844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Templo Fitness contrata el plan Business.</a:t>
            </a:r>
            <a:endParaRPr lang="en-US" sz="14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40075" y="2420342"/>
            <a:ext cx="355600" cy="254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00450" y="1892796"/>
            <a:ext cx="2219325" cy="1309191"/>
          </a:xfrm>
          <a:prstGeom prst="roundRect">
            <a:avLst>
              <a:gd name="adj" fmla="val 1139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32225" y="2124571"/>
            <a:ext cx="180844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Cuentas Pro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832225" y="2472531"/>
            <a:ext cx="180844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socio recibe su cuenta Pro.</a:t>
            </a:r>
            <a:endParaRPr lang="en-US" sz="1400" dirty="0"/>
          </a:p>
        </p:txBody>
      </p:sp>
      <p:pic>
        <p:nvPicPr>
          <p:cNvPr id="13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24550" y="2420342"/>
            <a:ext cx="355600" cy="254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384925" y="1892796"/>
            <a:ext cx="2219325" cy="1309191"/>
          </a:xfrm>
          <a:prstGeom prst="roundRect">
            <a:avLst>
              <a:gd name="adj" fmla="val 1139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616700" y="2124571"/>
            <a:ext cx="180844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Uso diario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616700" y="2472531"/>
            <a:ext cx="180844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Entrena y come con un solo registro.</a:t>
            </a:r>
            <a:endParaRPr lang="en-US" sz="1400" dirty="0"/>
          </a:p>
        </p:txBody>
      </p:sp>
      <p:pic>
        <p:nvPicPr>
          <p:cNvPr id="17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09025" y="2420342"/>
            <a:ext cx="355600" cy="254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166225" y="1771551"/>
            <a:ext cx="2212975" cy="1551682"/>
          </a:xfrm>
          <a:prstGeom prst="roundRect">
            <a:avLst>
              <a:gd name="adj" fmla="val 9822"/>
            </a:avLst>
          </a:prstGeom>
          <a:solidFill>
            <a:srgbClr val="FF5F1F"/>
          </a:solidFill>
          <a:ln/>
        </p:spPr>
      </p:sp>
      <p:sp>
        <p:nvSpPr>
          <p:cNvPr id="19" name="Text 13"/>
          <p:cNvSpPr/>
          <p:nvPr/>
        </p:nvSpPr>
        <p:spPr>
          <a:xfrm>
            <a:off x="9394825" y="2000151"/>
            <a:ext cx="180844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D0D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· Retención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394825" y="2348111"/>
            <a:ext cx="180844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D0D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adherencia y más permanencia en el centro.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12800" y="6238280"/>
            <a:ext cx="10512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DE TRABAJO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Hoja de ruta en cinco fases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768376"/>
            <a:ext cx="1984970" cy="2446933"/>
          </a:xfrm>
          <a:prstGeom prst="roundRect">
            <a:avLst>
              <a:gd name="adj" fmla="val 751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6950" y="1949351"/>
            <a:ext cx="16738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96950" y="2546251"/>
            <a:ext cx="16738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96950" y="2878931"/>
            <a:ext cx="1673820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Entrevistas con la gerencia y los entrenadores; arquitectura del software.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59695" y="1768376"/>
            <a:ext cx="1985070" cy="2446933"/>
          </a:xfrm>
          <a:prstGeom prst="roundRect">
            <a:avLst>
              <a:gd name="adj" fmla="val 7517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40670" y="1949351"/>
            <a:ext cx="16739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140670" y="2546251"/>
            <a:ext cx="16739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140670" y="2878931"/>
            <a:ext cx="1673920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de marca, wireframes sin fricción y base de datos relacional.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103515" y="1768376"/>
            <a:ext cx="1984970" cy="2446933"/>
          </a:xfrm>
          <a:prstGeom prst="roundRect">
            <a:avLst>
              <a:gd name="adj" fmla="val 751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84490" y="1949351"/>
            <a:ext cx="16738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5284490" y="2546251"/>
            <a:ext cx="16738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Ejecución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4490" y="2878931"/>
            <a:ext cx="1673820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con el algoritmo músculo-macro, frontend web y móvil y panel B2B.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247235" y="1768376"/>
            <a:ext cx="1985070" cy="2446933"/>
          </a:xfrm>
          <a:prstGeom prst="roundRect">
            <a:avLst>
              <a:gd name="adj" fmla="val 7517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28210" y="1949351"/>
            <a:ext cx="16739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7428210" y="2546251"/>
            <a:ext cx="16739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Pruebas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28210" y="2878931"/>
            <a:ext cx="167392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Beta con 50 socios del gimnasio.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391055" y="1768376"/>
            <a:ext cx="1984970" cy="2446933"/>
          </a:xfrm>
          <a:prstGeom prst="roundRect">
            <a:avLst>
              <a:gd name="adj" fmla="val 751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72030" y="1949351"/>
            <a:ext cx="16738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9572030" y="2546251"/>
            <a:ext cx="16738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Despliegue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572030" y="2878931"/>
            <a:ext cx="167382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Producción y entrega de la memoria.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12800" y="6238280"/>
            <a:ext cx="10512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FASE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Prueba piloto con socios reales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2800" y="1765201"/>
            <a:ext cx="3302000" cy="2385020"/>
          </a:xfrm>
          <a:prstGeom prst="roundRect">
            <a:avLst>
              <a:gd name="adj" fmla="val 6390"/>
            </a:avLst>
          </a:prstGeom>
          <a:solidFill>
            <a:srgbClr val="FF5F1F"/>
          </a:solidFill>
          <a:ln/>
        </p:spPr>
      </p:sp>
      <p:sp>
        <p:nvSpPr>
          <p:cNvPr id="7" name="Text 4"/>
          <p:cNvSpPr/>
          <p:nvPr/>
        </p:nvSpPr>
        <p:spPr>
          <a:xfrm>
            <a:off x="1041400" y="1993801"/>
            <a:ext cx="2930144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0D0D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</a:t>
            </a:r>
            <a:endParaRPr lang="en-US" sz="10000" dirty="0"/>
          </a:p>
        </p:txBody>
      </p:sp>
      <p:sp>
        <p:nvSpPr>
          <p:cNvPr id="8" name="Text 5"/>
          <p:cNvSpPr/>
          <p:nvPr/>
        </p:nvSpPr>
        <p:spPr>
          <a:xfrm>
            <a:off x="1041400" y="3352701"/>
            <a:ext cx="293014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D0D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socios de Templo Fitness en la beta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70375" y="1768376"/>
            <a:ext cx="7105650" cy="1109960"/>
          </a:xfrm>
          <a:prstGeom prst="roundRect">
            <a:avLst>
              <a:gd name="adj" fmla="val 13444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0" name="Image 1" descr="icon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2150" y="2000151"/>
            <a:ext cx="279400" cy="279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83150" y="2010271"/>
            <a:ext cx="254190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Validar el rendimiento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02150" y="2368451"/>
            <a:ext cx="684136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Comprobamos la app en el uso real del gimnasio.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70375" y="3037086"/>
            <a:ext cx="7105650" cy="1109960"/>
          </a:xfrm>
          <a:prstGeom prst="roundRect">
            <a:avLst>
              <a:gd name="adj" fmla="val 13444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4" name="Image 2" descr="icon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02150" y="3268861"/>
            <a:ext cx="279400" cy="279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83150" y="3278981"/>
            <a:ext cx="164574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Resolver fallos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502150" y="3637161"/>
            <a:ext cx="684136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Corregimos los errores detectados antes del despliegue.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10512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VIABILIDAD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Financiación y cumplimiento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768376"/>
            <a:ext cx="5200650" cy="2165350"/>
          </a:xfrm>
          <a:prstGeom prst="roundRect">
            <a:avLst>
              <a:gd name="adj" fmla="val 6891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7" name="Image 1" descr="icon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2000151"/>
            <a:ext cx="279400" cy="279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8750" y="2002730"/>
            <a:ext cx="242468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Vías de financiación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138682" y="2368451"/>
            <a:ext cx="4780661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Kit Digital: licencias financiadas con el bono digital</a:t>
            </a:r>
            <a:endParaRPr lang="en-US" sz="1400" dirty="0"/>
          </a:p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Fondos Next Generation EU</a:t>
            </a:r>
            <a:endParaRPr lang="en-US" sz="1400" dirty="0"/>
          </a:p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Ayudas de emprendimiento tecnológico de la Junta y ayuntamientos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75375" y="1768376"/>
            <a:ext cx="5200650" cy="2165350"/>
          </a:xfrm>
          <a:prstGeom prst="roundRect">
            <a:avLst>
              <a:gd name="adj" fmla="val 6891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1" name="Image 2" descr="icon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7150" y="2000151"/>
            <a:ext cx="279400" cy="279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88150" y="2002730"/>
            <a:ext cx="174277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Cumplimiento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498082" y="2368451"/>
            <a:ext cx="4780661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RGPD: consentimiento explícito y anonimización para el gimnasio</a:t>
            </a:r>
            <a:endParaRPr lang="en-US" sz="1400" dirty="0"/>
          </a:p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Servidores europeos cifrados</a:t>
            </a:r>
            <a:endParaRPr lang="en-US" sz="1400" dirty="0"/>
          </a:p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IVA en la facturación de suscripciones</a:t>
            </a:r>
            <a:endParaRPr lang="en-US" sz="1400" dirty="0"/>
          </a:p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PRL: ergonomía para el equipo de desarrollo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12800" y="6238280"/>
            <a:ext cx="10512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BeastSync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9899154" y="254000"/>
            <a:ext cx="355600" cy="31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43654" y="306090"/>
            <a:ext cx="10863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DE9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SIGUIENTE PASO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120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Pongamos BeastSync en marcha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15975" y="1768376"/>
            <a:ext cx="7105650" cy="1047254"/>
          </a:xfrm>
          <a:prstGeom prst="roundRect">
            <a:avLst>
              <a:gd name="adj" fmla="val 14249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7750" y="2088753"/>
            <a:ext cx="355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530350" y="2033290"/>
            <a:ext cx="472316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Reunión con gerencia y entrenadores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30350" y="2327870"/>
            <a:ext cx="472316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Definimos los requisitos y la arquitectura del software (fase 1).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5975" y="2974380"/>
            <a:ext cx="7105650" cy="1047254"/>
          </a:xfrm>
          <a:prstGeom prst="roundRect">
            <a:avLst>
              <a:gd name="adj" fmla="val 14249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7750" y="3294757"/>
            <a:ext cx="355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1530350" y="3239294"/>
            <a:ext cx="578936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 de marca e interfaz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30350" y="3533874"/>
            <a:ext cx="578936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de marca, wireframes sin fricción y base de datos relacional (fase 2).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5975" y="4180384"/>
            <a:ext cx="7105650" cy="1047254"/>
          </a:xfrm>
          <a:prstGeom prst="roundRect">
            <a:avLst>
              <a:gd name="adj" fmla="val 14249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7750" y="4500761"/>
            <a:ext cx="355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5F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1530350" y="4445298"/>
            <a:ext cx="531640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Desarrollo y beta con 50 socios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530350" y="4739878"/>
            <a:ext cx="531640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Backend, frontend web y móvil, panel B2B y prueba piloto (fases 3 y 4).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80375" y="1768376"/>
            <a:ext cx="3295650" cy="3459262"/>
          </a:xfrm>
          <a:prstGeom prst="roundRect">
            <a:avLst>
              <a:gd name="adj" fmla="val 4528"/>
            </a:avLst>
          </a:prstGeom>
          <a:solidFill>
            <a:srgbClr val="26282D"/>
          </a:solidFill>
          <a:ln w="6350">
            <a:solidFill>
              <a:srgbClr val="363940"/>
            </a:solidFill>
            <a:prstDash val="solid"/>
          </a:ln>
        </p:spPr>
      </p:sp>
      <p:pic>
        <p:nvPicPr>
          <p:cNvPr id="19" name="Image 1" descr="Logo de BeastSync">    </p:cNvPr>
          <p:cNvPicPr>
            <a:picLocks noChangeAspect="1"/>
          </p:cNvPicPr>
          <p:nvPr/>
        </p:nvPicPr>
        <p:blipFill>
          <a:blip r:embed="rId2"/>
          <a:srcRect l="0" r="0" t="-18" b="-18"/>
          <a:stretch/>
        </p:blipFill>
        <p:spPr>
          <a:xfrm>
            <a:off x="8775700" y="2000151"/>
            <a:ext cx="1905000" cy="16954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866684" y="3784501"/>
            <a:ext cx="172293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DE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BeastSync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8676816" y="4178201"/>
            <a:ext cx="2102669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Jesús Zambrano Montero</a:t>
            </a:r>
            <a:endParaRPr lang="en-US" sz="1400" dirty="0"/>
          </a:p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4A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Ivan Granados Cantero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670785" y="4764782"/>
            <a:ext cx="211483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5F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Proyecto Intermodular DAW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12800" y="6238280"/>
            <a:ext cx="10512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89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BeastSync · 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BeastSync – Presentación para Templo Fitness</dc:title>
  <dc:subject>PptxGenJS Presentation</dc:subject>
  <dc:creator>PptxGenJS</dc:creator>
  <cp:lastModifiedBy>PptxGenJS</cp:lastModifiedBy>
  <cp:revision>1</cp:revision>
  <dcterms:created xsi:type="dcterms:W3CDTF">2026-09-30T10:14:31Z</dcterms:created>
  <dcterms:modified xsi:type="dcterms:W3CDTF">2026-09-30T10:14:31Z</dcterms:modified>
</cp:coreProperties>
</file>